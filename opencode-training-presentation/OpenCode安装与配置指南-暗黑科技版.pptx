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457200"/>
            <a:ext cx="8595360" cy="27432"/>
          </a:xfrm>
          <a:prstGeom prst="roundRect">
            <a:avLst/>
          </a:prstGeom>
          <a:solidFill>
            <a:srgbClr val="00FFFF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79" y="731520"/>
            <a:ext cx="8503920" cy="27432"/>
          </a:xfrm>
          <a:prstGeom prst="roundRect">
            <a:avLst/>
          </a:prstGeom>
          <a:solidFill>
            <a:srgbClr val="00FFFF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8412480" cy="27432"/>
          </a:xfrm>
          <a:prstGeom prst="roundRect">
            <a:avLst/>
          </a:prstGeom>
          <a:solidFill>
            <a:srgbClr val="00FFF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8321040" cy="27432"/>
          </a:xfrm>
          <a:prstGeom prst="roundRect">
            <a:avLst/>
          </a:prstGeom>
          <a:solidFill>
            <a:srgbClr val="00FFF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554480"/>
            <a:ext cx="8229600" cy="27432"/>
          </a:xfrm>
          <a:prstGeom prst="roundRect">
            <a:avLst/>
          </a:prstGeom>
          <a:solidFill>
            <a:srgbClr val="00FFFF">
              <a:lumMod val="10000"/>
              <a:lumOff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0" b="1">
                <a:solidFill>
                  <a:srgbClr val="00D4FF"/>
                </a:solidFill>
                <a:latin typeface="Arial Black"/>
              </a:defRPr>
            </a:pPr>
            <a:r>
              <a:t>OpenCode 安装</a:t>
            </a:r>
          </a:p>
          <a:p>
            <a:r>
              <a:t>与配置指南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00FF"/>
                </a:solidFill>
                <a:latin typeface="Arial"/>
              </a:defRPr>
            </a:pPr>
            <a:r>
              <a:t>从零开始打造 AI 编码助手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114800"/>
            <a:ext cx="3657600" cy="54864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FFFF"/>
                </a:solidFill>
                <a:latin typeface="Arial Black"/>
              </a:defRPr>
            </a:pPr>
            <a:r>
              <a:t>&lt; 部门内部培训 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4114800"/>
            <a:ext cx="1371600" cy="1371600"/>
          </a:xfrm>
          <a:prstGeom prst="ellipse">
            <a:avLst/>
          </a:prstGeom>
          <a:solidFill>
            <a:srgbClr val="00D4FF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8595360" cy="6400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00D4FF"/>
                </a:solidFill>
                <a:latin typeface="Arial Black"/>
              </a:defRPr>
            </a:pPr>
            <a:r>
              <a:t>课程大纲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1. Node.js 安装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2. OpenCode 安装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3. Easy-OpenCode 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4. DeepSeek API Key 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5. 开始使用 Easy-OpenCode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6. 常见问题与解决方案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  <a:latin typeface="Arial Black"/>
              </a:defRPr>
            </a:pPr>
            <a:r>
              <a:t>第一章：Node.js 安装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官方安装包（推荐）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访问: https://nodejs.org/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下载 LTS 版本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546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Windows: 双击 .msi 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macOS: 双击 .pkg 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2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Linux: 按照官网指南操作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57200" y="58978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验证安装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node --version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72694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npm --version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  <a:latin typeface="Arial Black"/>
              </a:defRPr>
            </a:pPr>
            <a:r>
              <a:t>第二章：OpenCode 安装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全局安装（推荐）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npm install -g opencode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31546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验证安装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opencode --version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2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opencode --help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FF"/>
                </a:solidFill>
                <a:latin typeface="Arial Black"/>
              </a:defRPr>
            </a:pPr>
            <a:r>
              <a:t>第三章：Easy-OpenCode 核心特性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14 个专业 AI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50+ 工作流技能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33 个快捷命令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9456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自动化钩子工作流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TDD 驱动开发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29184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内置安全审查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  <a:latin typeface="Arial Black"/>
              </a:defRPr>
            </a:pPr>
            <a:r>
              <a:t>Easy-OpenCode 安装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全局安装（推荐）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npm install -g easy-opencode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31546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在项目中安装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eoc-install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2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npx easy-opencode install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  <a:latin typeface="Arial Black"/>
              </a:defRPr>
            </a:pPr>
            <a:r>
              <a:t>第四章：DeepSeek API Key 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环境变量配置（推荐）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export DEEPSEEK_API_KEY="your-api-key-here"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source ~/.bashrc  # 或 source ~/.zshrc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546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OpenCode 配置文件（持久化）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2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编辑: ~/.config/opencode/opencode.json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添加: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978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{"env": {"DEEPSEEK_API_KEY": "your-api-key-here"}}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5836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457200" y="72694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安全注意事项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955279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将 .env 添加到 .gitignore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8641080"/>
            <a:ext cx="8229600" cy="548640"/>
          </a:xfrm>
          <a:prstGeom prst="roundRect">
            <a:avLst/>
          </a:prstGeom>
          <a:solidFill>
            <a:srgbClr val="141414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FF88"/>
                </a:solidFill>
                <a:latin typeface="Consolas"/>
              </a:defRPr>
            </a:pPr>
            <a:r>
              <a:t># 定期轮换 API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4114800"/>
            <a:ext cx="1371600" cy="1371600"/>
          </a:xfrm>
          <a:prstGeom prst="ellipse">
            <a:avLst/>
          </a:prstGeom>
          <a:solidFill>
            <a:srgbClr val="00D4FF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8595360" cy="6400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00D4FF"/>
                </a:solidFill>
                <a:latin typeface="Arial Black"/>
              </a:defRPr>
            </a:pPr>
            <a:r>
              <a:t>第五章：常用 EOC 命令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/plan - 创建实现计划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/tdd - TDD 开发流程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/code-review - 代码审查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/security - 安全审查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/build-fix - 修复构建错误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/architect - 架构设计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12648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/e2e - 生成 E2E 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94944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/refactor-clean - 清理死代码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  <a:latin typeface="Arial Black"/>
              </a:defRPr>
            </a:pPr>
            <a:r>
              <a:t>实战演示：30 分钟完整开发流程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645920" cy="20116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步骤 1: 规划</a:t>
            </a:r>
          </a:p>
          <a:p>
            <a:r>
              <a:t>/plan</a:t>
            </a:r>
          </a:p>
          <a:p>
            <a:r>
              <a:t>5分钟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2286000"/>
            <a:ext cx="457200" cy="9144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94560" y="1188720"/>
            <a:ext cx="1645920" cy="20116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步骤 2: TDD 开发</a:t>
            </a:r>
          </a:p>
          <a:p>
            <a:r>
              <a:t>/tdd</a:t>
            </a:r>
          </a:p>
          <a:p>
            <a:r>
              <a:t>15分钟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457200" cy="9144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31920" y="1188720"/>
            <a:ext cx="1645920" cy="20116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步骤 3: 安全审查</a:t>
            </a:r>
          </a:p>
          <a:p>
            <a:r>
              <a:t>/security</a:t>
            </a:r>
          </a:p>
          <a:p>
            <a:r>
              <a:t>3分钟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59" y="2286000"/>
            <a:ext cx="457200" cy="9144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79" y="1188720"/>
            <a:ext cx="1645920" cy="20116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步骤 4: 代码审查</a:t>
            </a:r>
          </a:p>
          <a:p>
            <a:r>
              <a:t>/code-review</a:t>
            </a:r>
          </a:p>
          <a:p>
            <a:r>
              <a:t>3分钟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286000"/>
            <a:ext cx="457200" cy="9144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1188720"/>
            <a:ext cx="1645920" cy="20116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步骤 5: E2E 测试</a:t>
            </a:r>
          </a:p>
          <a:p>
            <a:r>
              <a:t>/e2e</a:t>
            </a:r>
          </a:p>
          <a:p>
            <a:r>
              <a:t>5分钟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4114800"/>
            <a:ext cx="1371600" cy="1371600"/>
          </a:xfrm>
          <a:prstGeom prst="ellipse">
            <a:avLst/>
          </a:prstGeom>
          <a:solidFill>
            <a:srgbClr val="00D4FF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8595360" cy="6400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00D4FF"/>
                </a:solidFill>
                <a:latin typeface="Arial Black"/>
              </a:defRPr>
            </a:pPr>
            <a:r>
              <a:t>第六章：常见问题与解决方案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Q: Node.js 安装失败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A: 检查 PATH 环境变量，重新运行安装程序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Q: OpenCode 安装失败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A: 检查网络连接，清除 npm 缓存后重试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Q: API Key 不生效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A: 验证环境变量，重启 OpenCode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12648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Q: Agent 不可用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94944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A: 确认 EOC 安装成功，重新安装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FF"/>
                </a:solidFill>
                <a:latin typeface="Arial Black"/>
              </a:defRPr>
            </a:pPr>
            <a:r>
              <a:t>恭喜！您已掌握：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✅ Node.js 安装配置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✅ OpenCode 安装验证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✅ EOC 部署配置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9456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✅ API Key 安全设置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✅ EOC 命令熟练使用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291840"/>
            <a:ext cx="4114800" cy="91440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✅ 工作流程完全掌握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4114800"/>
            <a:ext cx="1371600" cy="1371600"/>
          </a:xfrm>
          <a:prstGeom prst="ellipse">
            <a:avLst/>
          </a:prstGeom>
          <a:solidFill>
            <a:srgbClr val="00D4FF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8595360" cy="640080"/>
          </a:xfrm>
          <a:prstGeom prst="roundRect">
            <a:avLst/>
          </a:prstGeom>
          <a:solidFill>
            <a:srgbClr val="1E1E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00D4FF"/>
                </a:solidFill>
                <a:latin typeface="Arial Black"/>
              </a:defRPr>
            </a:pPr>
            <a:r>
              <a:t>下一步行动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🚀 立即实践：创建测试项目，尝试第一个命令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📚 深入学习：阅读 AGENTS.md，探索 skills/ 目录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💬 团队协作：分享经验，建立最佳实践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8229600" cy="731520"/>
          </a:xfrm>
          <a:prstGeom prst="roundRect">
            <a:avLst/>
          </a:prstGeom>
          <a:solidFill>
            <a:srgbClr val="1E1E23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🔄 持续改进：定期技术交流，追踪效率提升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2286000"/>
            <a:ext cx="2286000" cy="2286000"/>
          </a:xfrm>
          <a:prstGeom prst="ellipse">
            <a:avLst/>
          </a:prstGeom>
          <a:solidFill>
            <a:srgbClr val="FF00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00D4FF"/>
                </a:solidFill>
                <a:latin typeface="Arial Black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FFFF"/>
                </a:solidFill>
                <a:latin typeface="Arial"/>
              </a:defRPr>
            </a:pPr>
            <a:r>
              <a:t>感谢聆听！如有疑问，欢迎提问 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