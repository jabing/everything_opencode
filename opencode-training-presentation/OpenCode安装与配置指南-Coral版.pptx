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91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6167"/>
            </a:gs>
            <a:gs pos="100000">
              <a:srgbClr val="2F3C7E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8125" y="3198495"/>
            <a:ext cx="731520" cy="731520"/>
          </a:xfrm>
          <a:prstGeom prst="ellipse">
            <a:avLst/>
          </a:prstGeom>
          <a:solidFill>
            <a:srgbClr val="F9E79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645" y="3472815"/>
            <a:ext cx="1005840" cy="1005840"/>
          </a:xfrm>
          <a:prstGeom prst="ellipse">
            <a:avLst/>
          </a:prstGeom>
          <a:solidFill>
            <a:srgbClr val="F9E79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01165" y="3747135"/>
            <a:ext cx="1280160" cy="1280160"/>
          </a:xfrm>
          <a:prstGeom prst="ellipse">
            <a:avLst/>
          </a:prstGeom>
          <a:solidFill>
            <a:srgbClr val="F9E79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2780" y="913130"/>
            <a:ext cx="7618730" cy="1722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FFFFF"/>
                </a:solidFill>
                <a:latin typeface="Arial Black" panose="020B0A04020102020204"/>
              </a:defRPr>
            </a:pPr>
            <a:r>
              <a:rPr sz="6600"/>
              <a:t>OpenCode </a:t>
            </a:r>
            <a:r>
              <a:t>安装</a:t>
            </a:r>
          </a:p>
          <a:p>
            <a:pPr algn="l"/>
            <a:r>
              <a:rPr>
                <a:solidFill>
                  <a:schemeClr val="bg1"/>
                </a:solidFill>
              </a:rPr>
              <a:t>与配置指南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5535" y="3042285"/>
            <a:ext cx="709993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9E795"/>
                </a:solidFill>
                <a:latin typeface="Arial" panose="020B0604020202020204"/>
              </a:defRPr>
            </a:pPr>
            <a:r>
              <a:t>从零开始打造 AI 编码助手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6129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96167"/>
                </a:solidFill>
                <a:latin typeface="Arial Black" panose="020B0A04020102020204"/>
              </a:defRPr>
            </a:pPr>
            <a:r>
              <a:rPr sz="2800"/>
              <a:t>课程大纲</a:t>
            </a:r>
            <a:endParaRPr sz="2800"/>
          </a:p>
        </p:txBody>
      </p:sp>
      <p:sp>
        <p:nvSpPr>
          <p:cNvPr id="3" name="Rounded Rectangle 2"/>
          <p:cNvSpPr/>
          <p:nvPr/>
        </p:nvSpPr>
        <p:spPr>
          <a:xfrm>
            <a:off x="401955" y="914400"/>
            <a:ext cx="390271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Node.js 安装配置</a:t>
            </a:r>
          </a:p>
        </p:txBody>
      </p:sp>
      <p:sp>
        <p:nvSpPr>
          <p:cNvPr id="4" name="Oval 3"/>
          <p:cNvSpPr/>
          <p:nvPr/>
        </p:nvSpPr>
        <p:spPr>
          <a:xfrm>
            <a:off x="584835" y="11887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16755" y="914400"/>
            <a:ext cx="390906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OpenCode 安装</a:t>
            </a:r>
          </a:p>
        </p:txBody>
      </p:sp>
      <p:sp>
        <p:nvSpPr>
          <p:cNvPr id="6" name="Oval 5"/>
          <p:cNvSpPr/>
          <p:nvPr/>
        </p:nvSpPr>
        <p:spPr>
          <a:xfrm>
            <a:off x="4699635" y="11887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1955" y="2286000"/>
            <a:ext cx="390652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EOC 部署</a:t>
            </a:r>
          </a:p>
        </p:txBody>
      </p:sp>
      <p:sp>
        <p:nvSpPr>
          <p:cNvPr id="8" name="Oval 7"/>
          <p:cNvSpPr/>
          <p:nvPr/>
        </p:nvSpPr>
        <p:spPr>
          <a:xfrm>
            <a:off x="584835" y="25603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6755" y="2286000"/>
            <a:ext cx="390906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API Key 配置</a:t>
            </a:r>
          </a:p>
        </p:txBody>
      </p:sp>
      <p:sp>
        <p:nvSpPr>
          <p:cNvPr id="10" name="Oval 9"/>
          <p:cNvSpPr/>
          <p:nvPr/>
        </p:nvSpPr>
        <p:spPr>
          <a:xfrm>
            <a:off x="4699635" y="25603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1955" y="3657600"/>
            <a:ext cx="3931285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EOC 使用</a:t>
            </a:r>
          </a:p>
        </p:txBody>
      </p:sp>
      <p:sp>
        <p:nvSpPr>
          <p:cNvPr id="12" name="Oval 11"/>
          <p:cNvSpPr/>
          <p:nvPr/>
        </p:nvSpPr>
        <p:spPr>
          <a:xfrm>
            <a:off x="584835" y="39319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6755" y="3657600"/>
            <a:ext cx="38887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rPr lang="en-US"/>
              <a:t>       </a:t>
            </a:r>
            <a:r>
              <a:t>  常见问题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4699635" y="39319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7315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Arial Black" panose="020B0A04020102020204"/>
              </a:defRPr>
            </a:pPr>
            <a:r>
              <a:rPr sz="3600"/>
              <a:t>第一章：Node.js 安装</a:t>
            </a:r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457200" y="1200150"/>
            <a:ext cx="2411095" cy="3707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什么是 Node.js？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Chrome V8 引擎运行时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跨平台支持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npm 包管理器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OpenCode 基础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官方安装（推荐）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访问 nodejs.org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下载 LTS 版本</a:t>
            </a:r>
            <a:endParaRPr sz="1600"/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rPr sz="1600"/>
              <a:t>• 运行安装程序</a:t>
            </a:r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4663440" y="1371600"/>
            <a:ext cx="91440" cy="347472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Linux 命令行安装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Ubuntu/Debian: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  curl -fsSL...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sudo apt-get install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验证安装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node --version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npm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7315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Arial Black" panose="020B0A04020102020204"/>
              </a:defRPr>
            </a:pPr>
            <a:r>
              <a:t>第二章：OpenCode 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OpenCode 简介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强大的 AI 编码助手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13 个专业 AI Agent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50+ 工作流技能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33 个命令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Homebrew 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brew install opencode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适用于 macOS/Linux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自动配置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71600"/>
            <a:ext cx="91440" cy="347472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NPM 全局安装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npm install -g opencode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适用于所有平台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验证安装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验证成功标志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显示帮助信息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Agent 列表可见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命令列表完整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9E795"/>
                </a:solidFill>
                <a:latin typeface="Arial Black" panose="020B0A04020102020204"/>
              </a:defRPr>
            </a:pPr>
            <a:r>
              <a:t>第三章：Easy-OpenCode 特性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🤖 14 个专业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⚡ 50+ 工作流技能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🛠️ 33 个快捷命令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🔗 自动化钩子工作流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📦 一键安装开箱即用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🎯 TDD 驱动确保质量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7315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Arial Black" panose="020B0A04020102020204"/>
              </a:defRPr>
            </a:pPr>
            <a:r>
              <a:t>Easy-OpenCode 安装方式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全局安装（推荐）⭐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npm install -g easy-opencode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eoc-install --version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所有项目可用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npx 方式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npx easy-opencode install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无需全局安装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临时使用场景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71600"/>
            <a:ext cx="91440" cy="347472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在项目中安装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eoc-install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选择安装位置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Project-level: .opencode/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Global: 全局配置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推荐：Project-level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便于项目管理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项目级配置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独立依赖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7315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Arial Black" panose="020B0A04020102020204"/>
              </a:defRPr>
            </a:pPr>
            <a:r>
              <a:t>第四章：DeepSeek API Key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配置方式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环境变量（推荐）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  export DEEPSEEK_API_KEY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OpenCode 配置文件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  ~/.config/opencode/...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命令行临时配置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DEEPSEEK_API_KEY=...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单次有效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测试场景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71600"/>
            <a:ext cx="91440" cy="347472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安全注意事项 ⚠️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❌ 永不提交到 Git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✅ .env 添加到 .gitignore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✅ 定期轮换 API Key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✅ 不同项目用不同 Key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验证配置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echo $DEEPSEEK_API_KEY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/test-connection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F3C7E"/>
                </a:solidFill>
                <a:latin typeface="Arial" panose="020B0604020202020204"/>
              </a:defRPr>
            </a:pPr>
            <a:r>
              <a:t>• 检查连接状态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F3C7E"/>
            </a:gs>
            <a:gs pos="100000">
              <a:srgbClr val="1E285A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9E795"/>
                </a:solidFill>
                <a:latin typeface="Arial Black" panose="020B0A04020102020204"/>
              </a:defRPr>
            </a:pPr>
            <a:r>
              <a:t>第五章：常用 EOC 命令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/plan - 创建实现计划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/tdd - TDD 开发流程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/code-review - 代码审查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39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/security - 安全审查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59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/build-fix - 修复构建错误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79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/architect - 架构设计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399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/e2e - 生成 E2E 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217919"/>
            <a:ext cx="82296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  /refactor-clean - 清理死代码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96167"/>
                </a:solidFill>
                <a:latin typeface="Arial Black" panose="020B0A04020102020204"/>
              </a:defRPr>
            </a:pPr>
            <a:r>
              <a:t>实战演示：30 分钟开发待办事项应用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645920" cy="25603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规划阶段</a:t>
            </a:r>
          </a:p>
          <a:p>
            <a:r>
              <a:t>/plan</a:t>
            </a:r>
          </a:p>
          <a:p>
            <a:r>
              <a:t>(5分钟)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560320"/>
            <a:ext cx="640080" cy="18288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0" y="1371600"/>
            <a:ext cx="1645920" cy="25603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TDD 开发</a:t>
            </a:r>
          </a:p>
          <a:p>
            <a:r>
              <a:t>/tdd</a:t>
            </a:r>
          </a:p>
          <a:p>
            <a:r>
              <a:t>(15分钟)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2560320"/>
            <a:ext cx="640080" cy="18288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0" y="1371600"/>
            <a:ext cx="1645920" cy="25603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安全审查</a:t>
            </a:r>
          </a:p>
          <a:p>
            <a:r>
              <a:t>/security</a:t>
            </a:r>
          </a:p>
          <a:p>
            <a:r>
              <a:t>(3分钟)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560320"/>
            <a:ext cx="640080" cy="18288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79" y="1371600"/>
            <a:ext cx="1645920" cy="25603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代码审查</a:t>
            </a:r>
          </a:p>
          <a:p>
            <a:r>
              <a:t>/code-review</a:t>
            </a:r>
          </a:p>
          <a:p>
            <a:r>
              <a:t>(3分钟)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560320"/>
            <a:ext cx="640080" cy="182880"/>
          </a:xfrm>
          <a:prstGeom prst="round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1645920" cy="25603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E2E 测试</a:t>
            </a:r>
          </a:p>
          <a:p>
            <a:r>
              <a:t>/e2e</a:t>
            </a:r>
          </a:p>
          <a:p>
            <a:r>
              <a:t>(5分钟)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9E795"/>
                </a:solidFill>
                <a:latin typeface="Arial Black" panose="020B0A04020102020204"/>
              </a:defRPr>
            </a:pPr>
            <a:r>
              <a:t>第六章：常见问题与解决方案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Node.js 安装失败 → 检查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OpenCode 安装失败 → 检查网络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API Key 不生效 → 验证环境变量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Agent 不可用 → 重新安装 EOC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命令行错误 → 检查拼写和参数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连接失败 → 检查网络和 API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9E795"/>
                </a:solidFill>
                <a:latin typeface="Arial Black" panose="020B0A04020102020204"/>
              </a:defRPr>
            </a:pPr>
            <a:r>
              <a:t>恭喜！您已掌握：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Node.js 安装配置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8872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OpenCode 安装验证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EOC 部署配置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4688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API Key 安全设置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EOC 命令熟练使用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490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2F3C7E"/>
                </a:solidFill>
                <a:latin typeface="Arial" panose="020B0604020202020204"/>
              </a:defRPr>
            </a:pPr>
            <a:r>
              <a:t>✅ 工作流程完全掌握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96167"/>
                </a:solidFill>
                <a:latin typeface="Arial Black" panose="020B0A04020102020204"/>
              </a:defRPr>
            </a:pPr>
            <a:r>
              <a:t>下一步行动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📚 立即实践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🎯 深入学习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💬 团队协作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🔄 持续改进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30175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📊 追踪效果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4114800"/>
            <a:ext cx="411480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F3C7E"/>
                </a:solidFill>
                <a:latin typeface="Arial" panose="020B0604020202020204"/>
              </a:defRPr>
            </a:pPr>
            <a:r>
              <a:t>  🚀 拓展应用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438912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6167"/>
            </a:gs>
            <a:gs pos="100000">
              <a:srgbClr val="2F3C7E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F9E79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 Black" panose="020B0A04020102020204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9E795"/>
                </a:solidFill>
                <a:latin typeface="Arial" panose="020B0604020202020204"/>
              </a:defRPr>
            </a:pPr>
            <a:r>
              <a:t>感谢聆听！如有疑问，欢迎提问 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1739</Words>
  <Application>WPS 演示</Application>
  <PresentationFormat>On-screen Show (4:3)</PresentationFormat>
  <Paragraphs>211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Arial Black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Terence姜</cp:lastModifiedBy>
  <cp:revision>2</cp:revision>
  <dcterms:created xsi:type="dcterms:W3CDTF">2013-01-27T09:14:00Z</dcterms:created>
  <dcterms:modified xsi:type="dcterms:W3CDTF">2026-03-09T17:28:15Z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3B253D3E038A4D00A8C5338782D637EC_12</vt:lpwstr>
  </property>
</Properties>
</file>