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Georgia"/>
              </a:defRPr>
            </a:pPr>
            <a:r>
              <a:t>OpenCode 安装与配置指南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ADCFC"/>
                </a:solidFill>
                <a:latin typeface="Calibri"/>
              </a:defRPr>
            </a:pPr>
            <a:r>
              <a:t>从零开始打造 AI 编码助手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  <a:latin typeface="Calibri"/>
              </a:defRPr>
            </a:pPr>
            <a:r>
              <a:t>部门内部培训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课程大纲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1. Node.js 安装与配置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2. OpenCode 安装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3. Easy-OpenCode 部署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4. DeepSeek API Key 配置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5. 开始使用 Easy-OpenCode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6. 常见问题与解决方案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第一章：Node.js 安装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什么是 Node.js？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基于 Chrome V8 引擎的 JavaScript 运行时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跨平台支持（Windows/macOS/Linux）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强大的包管理器（npm）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OpenCode 的运行基础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安装方式：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方式一：官方安装包（推荐）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访问 https://nodejs.org/，下载 LTS 版本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方式二：命令行安装（Linux）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Ubuntu: curl -fsSL https://deb.nodesource.com/setup_lts.x | sudo -E bash -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验证: node --version, npm --version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第二章：OpenCode 安装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OpenCode 简介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强大的 AI 编码助手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13 个专业 AI Agent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50+ 工作流技能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33 个命令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自动化工作流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安装 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方式一：Homebrew（macOS/Linux）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brew install 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方式二：NPM（所有平台）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npm install -g 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验证安装: opencode --version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第三章：Easy-OpenCode 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Easy-OpenCode 是什么？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面向 OpenCode 的生产级 AI 编码插件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14 个专业 AI Agent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50+ 工作流技能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33 个命令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自动化钩子工作流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安装 Easy-OpenCode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方式一：全局安装（推荐）⭐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npm install -g easy-opencode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eoc-install --version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方式二：使用 npx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npx easy-opencode install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在项目中安装: eoc-install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761"/>
                </a:solidFill>
                <a:latin typeface="Georgia"/>
              </a:defRPr>
            </a:pPr>
            <a:r>
              <a:t>核心优势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📦 一键安装，开箱即用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🎯 TDD 驱动开发，确保代码质量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🔒 内置安全审查，防止漏洞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🚀 自动化工作流，提升开发效率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第四章：DeepSeek API Key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配置方式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方式一：环境变量（推荐）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export DEEPSEEK_API_KEY="your-api-key-here"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source ~/.bashrc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方式二：OpenCode 配置文件（持久化）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编辑 ~/.config/opencode/opencode.json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方式三：命令行临时配置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DEEPSEEK_API_KEY="key" 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安全注意事项 ⚠️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永远不要将 API Key 提交到 Git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将 .env 添加到 .gitignore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• 定期轮换 API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第五章：常用 EOC 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/plan - 创建实现计划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/tdd - TDD 开发流程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/code-review - 代码审查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/security - 安全审查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/build-fix - 修复构建错误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/architect - 架构设计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/e2e - 生成 E2E 测试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/refactor-clean - 清理死代码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实战演示：开发待办事项应用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914400"/>
          </a:xfrm>
          <a:prstGeom prst="roundRect">
            <a:avLst/>
          </a:prstGeom>
          <a:solidFill>
            <a:srgbClr val="FFD700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1️⃣ 规划阶段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  <a:latin typeface="Courier New"/>
              </a:defRPr>
            </a:pPr>
            <a:r>
              <a:t>命令: /plan 创建一个待办事项应用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761"/>
                </a:solidFill>
                <a:latin typeface="Calibri"/>
              </a:defRPr>
            </a:pPr>
            <a:r>
              <a:t>输出: 实现计划已生成（5分钟）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914400"/>
          </a:xfrm>
          <a:prstGeom prst="roundRect">
            <a:avLst/>
          </a:prstGeom>
          <a:solidFill>
            <a:srgbClr val="FFD700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2️⃣ TDD 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  <a:latin typeface="Courier New"/>
              </a:defRPr>
            </a:pPr>
            <a:r>
              <a:t>命令: /tdd 实现 TodoList 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761"/>
                </a:solidFill>
                <a:latin typeface="Calibri"/>
              </a:defRPr>
            </a:pPr>
            <a:r>
              <a:t>输出: 测试+实现+重构（15分钟）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8229600" cy="914400"/>
          </a:xfrm>
          <a:prstGeom prst="roundRect">
            <a:avLst/>
          </a:prstGeom>
          <a:solidFill>
            <a:srgbClr val="FFD700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3️⃣ 安全审查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  <a:latin typeface="Courier New"/>
              </a:defRPr>
            </a:pPr>
            <a:r>
              <a:t>命令: /security 检查安全性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761"/>
                </a:solidFill>
                <a:latin typeface="Calibri"/>
              </a:defRPr>
            </a:pPr>
            <a:r>
              <a:t>输出: 安全检查报告（3分钟）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77840"/>
            <a:ext cx="8229600" cy="914400"/>
          </a:xfrm>
          <a:prstGeom prst="roundRect">
            <a:avLst/>
          </a:prstGeom>
          <a:solidFill>
            <a:srgbClr val="FFD700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4️⃣ 代码审查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  <a:latin typeface="Courier New"/>
              </a:defRPr>
            </a:pPr>
            <a:r>
              <a:t>命令: /code-review 审查代码质量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5836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761"/>
                </a:solidFill>
                <a:latin typeface="Calibri"/>
              </a:defRPr>
            </a:pPr>
            <a:r>
              <a:t>输出: 代码质量报告（3分钟）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7223759"/>
            <a:ext cx="7315200" cy="548640"/>
          </a:xfrm>
          <a:prstGeom prst="roundRect">
            <a:avLst/>
          </a:prstGeom>
          <a:solidFill>
            <a:srgbClr val="1E2761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总计：约 30 分钟完成从 0 到 1 的开发！🚀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第六章：常见问题与解决方案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Q1: Node.js 安装失败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A: 检查 PATH 环境变量，重新运行安装程序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Q2: OpenCode 安装失败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A: 检查网络连接，使用 sudo 安装，清除 npm 缓存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Q3: API Key 不生效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A: 验证环境变量，检查 .env 文件，重启 OpenCode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Q4: Agent 不可用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1E2761"/>
                </a:solidFill>
                <a:latin typeface="Calibri"/>
              </a:defRPr>
            </a:pPr>
            <a:r>
              <a:t>  A: 确认 EOC 安装成功，重新安装，清除缓存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761"/>
                </a:solidFill>
                <a:latin typeface="Georgia"/>
              </a:defRPr>
            </a:pPr>
            <a:r>
              <a:t>恭喜！您已掌握：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✅ Node.js 安装与配置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✅ OpenCode 安装与验证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✅ Easy-OpenCode 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✅ DeepSeek API Key 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603504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✅ EOC 命令和操作掌握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761"/>
                </a:solidFill>
                <a:latin typeface="Georgia"/>
              </a:defRPr>
            </a:pPr>
            <a:r>
              <a:t>下一步行动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📚 立即实践：创建测试项目，尝试第一个命令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🎯 深入学习：阅读 AGENTS.md，探索 skills/ 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7315200" cy="91440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💬 团队协作：分享经验，建立最佳实践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Georgia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ADCFC"/>
                </a:solidFill>
                <a:latin typeface="Calibri"/>
              </a:defRPr>
            </a:pPr>
            <a:r>
              <a:t>感谢聆听！如有疑问，欢迎提问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